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B2DF-28BC-5825-44A4-F3D855C62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9DC8E-1CF5-06DD-7909-DC6E4978A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402AC-DAA6-8E9F-6EFB-EF3D5D57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2F532-2063-4B8E-9FAA-8A1E055C0E4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35585-F099-8DFB-2229-F040B049A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8B0E8-C566-6042-894C-3241FE724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66D6-6530-4EDE-BE72-9272FEEEC5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027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940B-D1A2-B0F6-FF47-1C218AF4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84C45-CC6F-88A6-E958-32682AF79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5EE9F-6EB7-40E0-A743-0DFF0B10E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2F532-2063-4B8E-9FAA-8A1E055C0E4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98E2C-D7BC-429E-334C-F8EAB3E3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8984D-1AC2-449E-2C23-AAB1E799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66D6-6530-4EDE-BE72-9272FEEEC5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643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6F75-6205-A711-2E6A-F0AB73498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1E656-C4F5-581B-6589-CF162ACE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4D0CA-B418-1A00-4A4B-1701A9A44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2F532-2063-4B8E-9FAA-8A1E055C0E4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32729-0380-6BCE-585C-FE101A1C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A403B-3428-DB8E-795A-7CA1899A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66D6-6530-4EDE-BE72-9272FEEEC5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976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98A6D-C279-D0AE-6ED4-DD4539BB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79EF1-0936-9E44-654C-8AC9A38B3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5279F-1F0D-678E-26FB-7D3099915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B3B54-E7A7-D54A-5D7F-69A22D830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2F532-2063-4B8E-9FAA-8A1E055C0E4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BAA19-FBD0-964A-B9C6-4E0FCEE3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92AE0-CA7A-61A2-030F-047C953EB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66D6-6530-4EDE-BE72-9272FEEEC5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123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FA11-9D60-66B7-2F01-C7657C07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14C57-2956-AD33-B2A3-E18990FFC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19F82-7443-3242-80BF-B001979F2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ADE5A1-17C1-E539-1F19-0756B934A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839688-85A7-E392-E422-D086E21C1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BADC11-F6BE-5C55-8DB4-19DC440A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2F532-2063-4B8E-9FAA-8A1E055C0E4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2A040-CC76-84A3-329C-83E29E3E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5214A3-12B2-0E99-851F-CCB1EE57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66D6-6530-4EDE-BE72-9272FEEEC5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37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AD54E-E075-F812-ED3D-7E2FAAD1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85F08-C04C-092F-4141-3A254490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2F532-2063-4B8E-9FAA-8A1E055C0E4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71FF1-E85D-34B9-DD08-5553E2AD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09AD9-C2EA-9A70-CDCA-A4FD0F7E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66D6-6530-4EDE-BE72-9272FEEEC5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35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821D96-B827-B202-DEE3-51C0BA87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2F532-2063-4B8E-9FAA-8A1E055C0E4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F08413-CD3A-C43E-945B-83A690D7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F8BEC-8DBC-D929-AA2E-A4D8B016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66D6-6530-4EDE-BE72-9272FEEEC5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636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5D88-F2E7-79A3-24C0-64A14270C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F31BC-EB37-2DEE-F7D2-32A5A331B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35073-5619-FEEC-27B1-9DEED69EB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87159-43BC-4D0D-36FA-18B323664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2F532-2063-4B8E-9FAA-8A1E055C0E4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50365-DF42-AC51-35AC-F03F1B85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C7547-9A0A-D69C-1C2E-7351FEF8C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66D6-6530-4EDE-BE72-9272FEEEC5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65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1C718-AC67-F214-6AE7-EF357EC91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E0F1E-BC21-CEF6-980F-DCCED9E6C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681F1-8785-8440-FB0E-2FFFDE7F1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3A3E6-89CD-641C-A9EF-06B043777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2F532-2063-4B8E-9FAA-8A1E055C0E4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835DA-C7A5-1687-0AAE-4B2C879E2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30200-1496-3939-8B45-BEB2D08B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66D6-6530-4EDE-BE72-9272FEEEC5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698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0F02-F14C-7719-D7C4-18A31857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256E6-41F7-6BE6-0458-0E465A02D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AF776-C79D-1F72-8689-3F14A76E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2F532-2063-4B8E-9FAA-8A1E055C0E4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A9B04-80EE-B2A5-FD79-58A8194BB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DFCDF-206C-C17E-D332-B26C2E4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66D6-6530-4EDE-BE72-9272FEEEC5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19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A18FDC-9FD5-8258-1A8B-2578BF6E9E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4C7DA-0CB4-71DA-AD12-D3AABF750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F2D10-4310-D50C-E1FF-EDE0523B8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2F532-2063-4B8E-9FAA-8A1E055C0E4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55E21-8835-2374-76E2-0953CCA3B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57015-9F27-7B3B-5D8E-F4BF5BA54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66D6-6530-4EDE-BE72-9272FEEEC5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754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065B1-A638-A9C1-0BBA-82BC1AE15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693BD-0FD8-425D-510B-07EED8EDA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B97D9-8D4A-2E30-CBFE-B2454896B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F2F532-2063-4B8E-9FAA-8A1E055C0E4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A9CC-FC83-F95E-AF3D-E69FA302D9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59A8F-A2C5-FDA2-BB9E-2391A30CE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366D6-6530-4EDE-BE72-9272FEEEC5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422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9BA3DF-CFC6-418E-A24A-805247B0A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59" y="1399305"/>
            <a:ext cx="576547" cy="55896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5BEAD08-A7A1-0350-362C-E2C4757C1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31" y="-19976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Xero Application context diagram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9BA3DF-CFC6-418E-A24A-805247B0A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43" y="3956515"/>
            <a:ext cx="640525" cy="6209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71DBC78-FE6F-4D61-FE3E-8A72F675537E}"/>
              </a:ext>
            </a:extLst>
          </p:cNvPr>
          <p:cNvSpPr/>
          <p:nvPr/>
        </p:nvSpPr>
        <p:spPr>
          <a:xfrm>
            <a:off x="4422123" y="3096962"/>
            <a:ext cx="2711116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Xero</a:t>
            </a:r>
          </a:p>
          <a:p>
            <a:pPr algn="ctr"/>
            <a:r>
              <a:rPr lang="en-US" dirty="0"/>
              <a:t>(Demo account)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869CF1-D425-3214-18AF-6D4E4BC7219A}"/>
              </a:ext>
            </a:extLst>
          </p:cNvPr>
          <p:cNvSpPr txBox="1"/>
          <p:nvPr/>
        </p:nvSpPr>
        <p:spPr>
          <a:xfrm>
            <a:off x="383174" y="2137903"/>
            <a:ext cx="17766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 user:</a:t>
            </a:r>
          </a:p>
          <a:p>
            <a:r>
              <a:rPr lang="en-US" dirty="0"/>
              <a:t>Input invoices, bills and expenses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85C42B-6B1C-A832-99A6-0A1FC19C767A}"/>
              </a:ext>
            </a:extLst>
          </p:cNvPr>
          <p:cNvSpPr txBox="1"/>
          <p:nvPr/>
        </p:nvSpPr>
        <p:spPr>
          <a:xfrm>
            <a:off x="342900" y="5091092"/>
            <a:ext cx="213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Adviser:</a:t>
            </a:r>
          </a:p>
          <a:p>
            <a:r>
              <a:rPr lang="en-US" dirty="0"/>
              <a:t>Manages Configurations </a:t>
            </a:r>
          </a:p>
          <a:p>
            <a:r>
              <a:rPr lang="en-US" dirty="0"/>
              <a:t>Reviews reports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02EC37-3E72-0E8C-8B41-41EA1BFA24EC}"/>
              </a:ext>
            </a:extLst>
          </p:cNvPr>
          <p:cNvSpPr/>
          <p:nvPr/>
        </p:nvSpPr>
        <p:spPr>
          <a:xfrm>
            <a:off x="4700337" y="1056562"/>
            <a:ext cx="2149642" cy="7385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Dear Inventory Management 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D25813-4E36-F9DA-7562-65517C71A127}"/>
              </a:ext>
            </a:extLst>
          </p:cNvPr>
          <p:cNvSpPr/>
          <p:nvPr/>
        </p:nvSpPr>
        <p:spPr>
          <a:xfrm>
            <a:off x="9203989" y="1544997"/>
            <a:ext cx="2149642" cy="7385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Gusto Payroll System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BD1092-0E7A-F996-D7C9-D1E3BDF67AD3}"/>
              </a:ext>
            </a:extLst>
          </p:cNvPr>
          <p:cNvSpPr/>
          <p:nvPr/>
        </p:nvSpPr>
        <p:spPr>
          <a:xfrm>
            <a:off x="9203989" y="3418848"/>
            <a:ext cx="2149642" cy="7385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Hubspot</a:t>
            </a:r>
            <a:r>
              <a:rPr lang="en-US" dirty="0"/>
              <a:t> CRM 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A9E4FF-18AF-2990-F1E6-89902CC87430}"/>
              </a:ext>
            </a:extLst>
          </p:cNvPr>
          <p:cNvSpPr/>
          <p:nvPr/>
        </p:nvSpPr>
        <p:spPr>
          <a:xfrm>
            <a:off x="9204158" y="5482148"/>
            <a:ext cx="2149642" cy="7385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Expensify 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F76497-C048-B7A7-321A-8B01CF75593F}"/>
              </a:ext>
            </a:extLst>
          </p:cNvPr>
          <p:cNvSpPr/>
          <p:nvPr/>
        </p:nvSpPr>
        <p:spPr>
          <a:xfrm>
            <a:off x="4700337" y="5828799"/>
            <a:ext cx="2149642" cy="7385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stripe</a:t>
            </a:r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ADA5DCE-2A76-909A-6BFB-B19031DD6FD9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2159837" y="2738068"/>
            <a:ext cx="2259763" cy="6001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E5725C-79BE-7604-6FC4-A1FA16F5454E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2480100" y="4174107"/>
            <a:ext cx="1886804" cy="15171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F20947-9A57-044E-9343-BD7C94978F37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7133239" y="3759744"/>
            <a:ext cx="2070750" cy="284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D6ACF0F-2D35-F253-E34F-2B5560CFECD8}"/>
              </a:ext>
            </a:extLst>
          </p:cNvPr>
          <p:cNvCxnSpPr>
            <a:cxnSpLocks/>
            <a:stCxn id="5" idx="0"/>
            <a:endCxn id="11" idx="2"/>
          </p:cNvCxnSpPr>
          <p:nvPr/>
        </p:nvCxnSpPr>
        <p:spPr>
          <a:xfrm flipH="1" flipV="1">
            <a:off x="5775158" y="1795160"/>
            <a:ext cx="2523" cy="13018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844404-DB52-C585-AF16-17C90B3C5C76}"/>
              </a:ext>
            </a:extLst>
          </p:cNvPr>
          <p:cNvCxnSpPr>
            <a:cxnSpLocks/>
          </p:cNvCxnSpPr>
          <p:nvPr/>
        </p:nvCxnSpPr>
        <p:spPr>
          <a:xfrm flipV="1">
            <a:off x="7133239" y="1943218"/>
            <a:ext cx="2070750" cy="11802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A978FF6-E2F8-BCCE-EA74-D98846D68A88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6516546" y="4482441"/>
            <a:ext cx="2687612" cy="13690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1C3A8E1-DBC3-670B-E96C-377B0FF8D93E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flipH="1">
            <a:off x="5775158" y="4422525"/>
            <a:ext cx="2523" cy="14062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E5324FB-AC64-4A52-06ED-DD6C93C856E5}"/>
              </a:ext>
            </a:extLst>
          </p:cNvPr>
          <p:cNvSpPr txBox="1"/>
          <p:nvPr/>
        </p:nvSpPr>
        <p:spPr>
          <a:xfrm rot="853543">
            <a:off x="2536410" y="1877919"/>
            <a:ext cx="17665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Captures operational financial entries</a:t>
            </a:r>
          </a:p>
          <a:p>
            <a:r>
              <a:rPr lang="en-IN" sz="1400" dirty="0"/>
              <a:t>(invoices, bills, expenses)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E88075-447E-1BA7-48DC-E724FB78C1D7}"/>
              </a:ext>
            </a:extLst>
          </p:cNvPr>
          <p:cNvSpPr txBox="1"/>
          <p:nvPr/>
        </p:nvSpPr>
        <p:spPr>
          <a:xfrm rot="5400000">
            <a:off x="4789950" y="4838901"/>
            <a:ext cx="930571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Confirms online </a:t>
            </a:r>
            <a:r>
              <a:rPr lang="en-IN" sz="1400" dirty="0"/>
              <a:t>payment</a:t>
            </a:r>
            <a:r>
              <a:rPr lang="en-IN" sz="1100" dirty="0"/>
              <a:t> settlements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BA6194-109D-5DA8-48AA-57091B00C680}"/>
              </a:ext>
            </a:extLst>
          </p:cNvPr>
          <p:cNvSpPr txBox="1"/>
          <p:nvPr/>
        </p:nvSpPr>
        <p:spPr>
          <a:xfrm>
            <a:off x="5762959" y="1839008"/>
            <a:ext cx="15071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Synchronizes inventory levels,</a:t>
            </a:r>
            <a:br>
              <a:rPr lang="en-US" sz="1400" dirty="0"/>
            </a:br>
            <a:r>
              <a:rPr lang="en-US" sz="1400" dirty="0"/>
              <a:t>orders, and stock movements</a:t>
            </a:r>
            <a:endParaRPr lang="en-IN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FA8EB4-617D-1BC7-F843-AAB589CEFF75}"/>
              </a:ext>
            </a:extLst>
          </p:cNvPr>
          <p:cNvSpPr txBox="1"/>
          <p:nvPr/>
        </p:nvSpPr>
        <p:spPr>
          <a:xfrm rot="19799563">
            <a:off x="7234381" y="2542296"/>
            <a:ext cx="22211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Processes payroll entries</a:t>
            </a:r>
            <a:br>
              <a:rPr lang="en-US" sz="1400" dirty="0"/>
            </a:br>
            <a:r>
              <a:rPr lang="en-US" sz="1400" dirty="0"/>
              <a:t>and statutory compliance records</a:t>
            </a:r>
            <a:endParaRPr lang="en-IN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E58B07-BBA5-69C4-2AB3-BEFD5DF850AE}"/>
              </a:ext>
            </a:extLst>
          </p:cNvPr>
          <p:cNvSpPr txBox="1"/>
          <p:nvPr/>
        </p:nvSpPr>
        <p:spPr>
          <a:xfrm>
            <a:off x="7309280" y="3842890"/>
            <a:ext cx="1797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Exchanges customer profiles</a:t>
            </a:r>
            <a:br>
              <a:rPr lang="en-US" sz="1400" dirty="0"/>
            </a:br>
            <a:r>
              <a:rPr lang="en-US" sz="1400" dirty="0"/>
              <a:t>and sales-related information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D317FF-BC88-4EA9-93CF-FB855DB885CB}"/>
              </a:ext>
            </a:extLst>
          </p:cNvPr>
          <p:cNvSpPr txBox="1"/>
          <p:nvPr/>
        </p:nvSpPr>
        <p:spPr>
          <a:xfrm rot="1602664">
            <a:off x="6663883" y="5234936"/>
            <a:ext cx="22670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Submits validated expense claims</a:t>
            </a:r>
            <a:br>
              <a:rPr lang="en-US" sz="1400" dirty="0"/>
            </a:br>
            <a:r>
              <a:rPr lang="en-US" sz="1400" dirty="0"/>
              <a:t>for reimbursement processing</a:t>
            </a:r>
            <a:endParaRPr lang="en-IN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E324E9-332A-C917-3087-37209018923B}"/>
              </a:ext>
            </a:extLst>
          </p:cNvPr>
          <p:cNvSpPr txBox="1"/>
          <p:nvPr/>
        </p:nvSpPr>
        <p:spPr>
          <a:xfrm rot="19252097">
            <a:off x="1985514" y="4188110"/>
            <a:ext cx="194093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100" dirty="0"/>
              <a:t>Manage User Configurations &amp;other Integrations</a:t>
            </a:r>
          </a:p>
          <a:p>
            <a:pPr marL="285750" indent="-285750">
              <a:buFontTx/>
              <a:buChar char="-"/>
            </a:pPr>
            <a:r>
              <a:rPr lang="en-US" sz="1100" dirty="0"/>
              <a:t>Training &amp; support to other users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4587938-E30A-C206-3FC3-64CD986750E2}"/>
              </a:ext>
            </a:extLst>
          </p:cNvPr>
          <p:cNvSpPr/>
          <p:nvPr/>
        </p:nvSpPr>
        <p:spPr>
          <a:xfrm>
            <a:off x="5279060" y="2326221"/>
            <a:ext cx="383980" cy="3758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1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4587938-E30A-C206-3FC3-64CD986750E2}"/>
              </a:ext>
            </a:extLst>
          </p:cNvPr>
          <p:cNvSpPr/>
          <p:nvPr/>
        </p:nvSpPr>
        <p:spPr>
          <a:xfrm>
            <a:off x="5806163" y="4995580"/>
            <a:ext cx="383980" cy="3758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5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4587938-E30A-C206-3FC3-64CD986750E2}"/>
              </a:ext>
            </a:extLst>
          </p:cNvPr>
          <p:cNvSpPr/>
          <p:nvPr/>
        </p:nvSpPr>
        <p:spPr>
          <a:xfrm>
            <a:off x="8376522" y="5058763"/>
            <a:ext cx="383980" cy="3758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4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4587938-E30A-C206-3FC3-64CD986750E2}"/>
              </a:ext>
            </a:extLst>
          </p:cNvPr>
          <p:cNvSpPr/>
          <p:nvPr/>
        </p:nvSpPr>
        <p:spPr>
          <a:xfrm>
            <a:off x="8445846" y="3353902"/>
            <a:ext cx="383980" cy="3758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3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4587938-E30A-C206-3FC3-64CD986750E2}"/>
              </a:ext>
            </a:extLst>
          </p:cNvPr>
          <p:cNvSpPr/>
          <p:nvPr/>
        </p:nvSpPr>
        <p:spPr>
          <a:xfrm>
            <a:off x="7660576" y="2157437"/>
            <a:ext cx="383980" cy="3758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0423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28E3D6-83AA-589D-5CD0-CBD9B787C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478243"/>
              </p:ext>
            </p:extLst>
          </p:nvPr>
        </p:nvGraphicFramePr>
        <p:xfrm>
          <a:off x="0" y="335879"/>
          <a:ext cx="12192000" cy="6522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77">
                  <a:extLst>
                    <a:ext uri="{9D8B030D-6E8A-4147-A177-3AD203B41FA5}">
                      <a16:colId xmlns:a16="http://schemas.microsoft.com/office/drawing/2014/main" val="3326015254"/>
                    </a:ext>
                  </a:extLst>
                </a:gridCol>
                <a:gridCol w="4120738">
                  <a:extLst>
                    <a:ext uri="{9D8B030D-6E8A-4147-A177-3AD203B41FA5}">
                      <a16:colId xmlns:a16="http://schemas.microsoft.com/office/drawing/2014/main" val="4150679884"/>
                    </a:ext>
                  </a:extLst>
                </a:gridCol>
                <a:gridCol w="1890924">
                  <a:extLst>
                    <a:ext uri="{9D8B030D-6E8A-4147-A177-3AD203B41FA5}">
                      <a16:colId xmlns:a16="http://schemas.microsoft.com/office/drawing/2014/main" val="2961195289"/>
                    </a:ext>
                  </a:extLst>
                </a:gridCol>
                <a:gridCol w="1272269">
                  <a:extLst>
                    <a:ext uri="{9D8B030D-6E8A-4147-A177-3AD203B41FA5}">
                      <a16:colId xmlns:a16="http://schemas.microsoft.com/office/drawing/2014/main" val="1374397430"/>
                    </a:ext>
                  </a:extLst>
                </a:gridCol>
                <a:gridCol w="1847756">
                  <a:extLst>
                    <a:ext uri="{9D8B030D-6E8A-4147-A177-3AD203B41FA5}">
                      <a16:colId xmlns:a16="http://schemas.microsoft.com/office/drawing/2014/main" val="1145164920"/>
                    </a:ext>
                  </a:extLst>
                </a:gridCol>
                <a:gridCol w="2571036">
                  <a:extLst>
                    <a:ext uri="{9D8B030D-6E8A-4147-A177-3AD203B41FA5}">
                      <a16:colId xmlns:a16="http://schemas.microsoft.com/office/drawing/2014/main" val="3579359596"/>
                    </a:ext>
                  </a:extLst>
                </a:gridCol>
              </a:tblGrid>
              <a:tr h="400390">
                <a:tc>
                  <a:txBody>
                    <a:bodyPr/>
                    <a:lstStyle/>
                    <a:p>
                      <a:r>
                        <a:rPr lang="en-US" sz="1050" dirty="0"/>
                        <a:t>No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Description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Source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Target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Frequency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Validation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594436"/>
                  </a:ext>
                </a:extLst>
              </a:tr>
              <a:tr h="588628">
                <a:tc>
                  <a:txBody>
                    <a:bodyPr/>
                    <a:lstStyle/>
                    <a:p>
                      <a:r>
                        <a:rPr lang="en-US" sz="1050" dirty="0"/>
                        <a:t>1a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Manages Stocks /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DEAR Inventory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Xero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Real-time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Validate SKU/item-code mapping and ensure </a:t>
                      </a:r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qty × </a:t>
                      </a:r>
                      <a:r>
                        <a:rPr lang="en-US" sz="105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unit_cost</a:t>
                      </a:r>
                      <a:r>
                        <a:rPr lang="en-US" sz="1050" dirty="0"/>
                        <a:t> aligns with posted COGS/inventory movement totals.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956630"/>
                  </a:ext>
                </a:extLst>
              </a:tr>
              <a:tr h="588628">
                <a:tc>
                  <a:txBody>
                    <a:bodyPr/>
                    <a:lstStyle/>
                    <a:p>
                      <a:r>
                        <a:rPr lang="en-US" sz="1050" dirty="0"/>
                        <a:t>1b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Provides inventory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Xero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DEAR Inventory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Real-time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Confirm sync success for item/order references and block re-processing of the same </a:t>
                      </a:r>
                      <a:r>
                        <a:rPr lang="en-US" sz="105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US" sz="1050" dirty="0"/>
                        <a:t>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268895"/>
                  </a:ext>
                </a:extLst>
              </a:tr>
              <a:tr h="588628">
                <a:tc>
                  <a:txBody>
                    <a:bodyPr/>
                    <a:lstStyle/>
                    <a:p>
                      <a:r>
                        <a:rPr lang="en-US" sz="1050" dirty="0"/>
                        <a:t>2a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Manages tax fillings and employee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Gusto Payroll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Xero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Scheduled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Enforce double-entry (total debits = total credits) and validate correct account mapping for wages/taxes.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85580"/>
                  </a:ext>
                </a:extLst>
              </a:tr>
              <a:tr h="588628">
                <a:tc>
                  <a:txBody>
                    <a:bodyPr/>
                    <a:lstStyle/>
                    <a:p>
                      <a:r>
                        <a:rPr lang="en-US" sz="1050" dirty="0"/>
                        <a:t>2b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Provides payroll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Xero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Gusto Payroll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Scheduled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Return “journal posted” confirmation and flag exceptions if totals or pay-period dates mismatch after posting.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809643"/>
                  </a:ext>
                </a:extLst>
              </a:tr>
              <a:tr h="753444">
                <a:tc>
                  <a:txBody>
                    <a:bodyPr/>
                    <a:lstStyle/>
                    <a:p>
                      <a:r>
                        <a:rPr lang="en-US" sz="1050" dirty="0"/>
                        <a:t>3a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Manages customer interactions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HubSpot 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Xero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Scheduled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Prevent duplicate customers by validating a unique identifier (email/company/tax ID) before creating/updating contacts.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148027"/>
                  </a:ext>
                </a:extLst>
              </a:tr>
              <a:tr h="588628">
                <a:tc>
                  <a:txBody>
                    <a:bodyPr/>
                    <a:lstStyle/>
                    <a:p>
                      <a:r>
                        <a:rPr lang="en-US" sz="1050" dirty="0"/>
                        <a:t>3b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Provides customer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Xero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HubSpot 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Scheduled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Push invoice status (Draft/Sent/Paid) and verify it remains linked to the correct contact/deal record.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106397"/>
                  </a:ext>
                </a:extLst>
              </a:tr>
              <a:tr h="588628">
                <a:tc>
                  <a:txBody>
                    <a:bodyPr/>
                    <a:lstStyle/>
                    <a:p>
                      <a:r>
                        <a:rPr lang="en-US" sz="1050" dirty="0"/>
                        <a:t>4a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Handles expenses details and reimbursement statuses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Expensify Expense Management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Xero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Event-based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Verify claim amount matches receipt data (within tolerance) and meets policy/approval rules before posting.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167599"/>
                  </a:ext>
                </a:extLst>
              </a:tr>
              <a:tr h="588628">
                <a:tc>
                  <a:txBody>
                    <a:bodyPr/>
                    <a:lstStyle/>
                    <a:p>
                      <a:r>
                        <a:rPr lang="en-US" sz="1050" dirty="0"/>
                        <a:t>4b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Provides expense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Xero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Expensify Expense Management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Event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Send posting/reimbursement status back and ensure each update references the same </a:t>
                      </a:r>
                      <a:r>
                        <a:rPr lang="en-US" sz="105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claim_id</a:t>
                      </a:r>
                      <a:r>
                        <a:rPr lang="en-US" sz="1050" dirty="0"/>
                        <a:t> for audit traceability.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885950"/>
                  </a:ext>
                </a:extLst>
              </a:tr>
              <a:tr h="588628">
                <a:tc>
                  <a:txBody>
                    <a:bodyPr/>
                    <a:lstStyle/>
                    <a:p>
                      <a:r>
                        <a:rPr lang="en-US" sz="1050" dirty="0"/>
                        <a:t>5a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Supports Online Payment 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Stripe 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Xero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Realtime 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Match </a:t>
                      </a:r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transaction id + amount + currency</a:t>
                      </a:r>
                      <a:r>
                        <a:rPr lang="en-US" sz="1050" dirty="0"/>
                        <a:t> to the linked Xero invoice and reject duplicates.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179509"/>
                  </a:ext>
                </a:extLst>
              </a:tr>
              <a:tr h="659263">
                <a:tc>
                  <a:txBody>
                    <a:bodyPr/>
                    <a:lstStyle/>
                    <a:p>
                      <a:r>
                        <a:rPr lang="en-US" sz="1050" dirty="0"/>
                        <a:t>5b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Provide financial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Xero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Payment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Real-time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Acknowledge invoice/payment status update and confirm it ties to the same </a:t>
                      </a:r>
                      <a:r>
                        <a:rPr lang="en-US" sz="105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invoice_ref</a:t>
                      </a:r>
                      <a:r>
                        <a:rPr lang="en-US" sz="1050" dirty="0"/>
                        <a:t>.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72414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A5D08FE-38B2-D1CE-0ED7-4FB0C6EB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374" y="-442671"/>
            <a:ext cx="10515600" cy="124655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System interface table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07008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396</Words>
  <Application>Microsoft Office PowerPoint</Application>
  <PresentationFormat>Widescreen</PresentationFormat>
  <Paragraphs>94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Xero Application context diagram </vt:lpstr>
      <vt:lpstr>System interface table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Shlok shah</dc:creator>
  <cp:lastModifiedBy>Shlok shah</cp:lastModifiedBy>
  <cp:revision>4</cp:revision>
  <dcterms:created xsi:type="dcterms:W3CDTF">2026-02-19T20:29:42Z</dcterms:created>
  <dcterms:modified xsi:type="dcterms:W3CDTF">2026-02-21T18:53:14Z</dcterms:modified>
</cp:coreProperties>
</file>