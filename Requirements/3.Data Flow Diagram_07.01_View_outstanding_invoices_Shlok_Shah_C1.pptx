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09302-1607-48DE-A842-3FAA24E4A57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2697A-2EC9-4926-BB3A-5606C86D0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44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5B0B-4F2F-A8A1-6646-3E91395BF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CE329-5ECD-9AD9-331C-C57BC64C0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68B6E-E6B5-4B43-E62F-D7BB99EA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7F8C8-29FB-4D11-90A6-EC87E0575EC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33274-9F2D-11A2-2C01-5931C3C39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710E0-C3A9-FAFD-EB36-5729C3B0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CA6-0C1E-42CA-B1C0-709B2F3D8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70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50F5-6549-3623-7B4F-66FC1C91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E27DB-3C7E-AC59-8D43-0D3C739EC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3DA90-B5B8-B967-A8E3-BEAFD02E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7F8C8-29FB-4D11-90A6-EC87E0575EC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9B4A4-B52A-1DDC-F3C4-CB7795432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A51F1-3A98-A195-5278-E286A376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CA6-0C1E-42CA-B1C0-709B2F3D8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819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B300A-478F-38B7-B8D6-C1CC488BF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4F387-675F-81CC-EFBB-D667F2A2E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E71D0-D82D-9A83-3561-CE61196EB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7F8C8-29FB-4D11-90A6-EC87E0575EC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0381E-DFB9-EE4A-B377-433B83C1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E2C21-C38B-5ED1-A033-9DAE36FA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CA6-0C1E-42CA-B1C0-709B2F3D8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34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90D0C-63E9-7120-3C60-C1D857A08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BC19E-B91A-EF0B-AB75-A9C189A39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86A09-9477-3538-FDB0-E13E5AED5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E1BD4-45A9-DD02-1174-E4A61BFAE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7F8C8-29FB-4D11-90A6-EC87E0575EC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EA142-C091-DCE6-FFA3-D78A942CE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00F0A-E472-442B-BEAF-BB47B49E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CA6-0C1E-42CA-B1C0-709B2F3D8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71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46DFF-A6C3-C514-B497-A7333980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1996F-88E3-AEC4-43A7-1F8EF805F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ACB7D-28DA-4F5C-F5F0-969C874AF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E10852-7A74-C90E-0274-B0C54EC4F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42A0ED-2405-BA08-A1F5-0AEA6EF7C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71A6F-158D-E553-5183-FE583C7FC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7F8C8-29FB-4D11-90A6-EC87E0575EC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51751E-9B90-483F-5D8A-30BDDB8DE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391B6D-222D-DD4F-BC92-73FF9C19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CA6-0C1E-42CA-B1C0-709B2F3D8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31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38D9-9DBB-6F11-D8AF-BC7D0857A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DC5F8-FB6C-9BD2-ABF0-9A46CC6F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7F8C8-29FB-4D11-90A6-EC87E0575EC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D6F54-7A2E-DF62-75F7-5CC97869C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4FC2F-3947-A87B-1DA0-BC2FB176A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CA6-0C1E-42CA-B1C0-709B2F3D8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967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12248-6589-28AF-BD22-5F140867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7F8C8-29FB-4D11-90A6-EC87E0575EC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71D1C8-80FD-87A0-A1DE-1F657D12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2BDC7-F3CF-3B94-DA11-5A5EF6B8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CA6-0C1E-42CA-B1C0-709B2F3D8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57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0EE70-D2B9-3E36-F227-7F40C817C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725BC-484A-2F8E-ECC3-1A631FB4A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4EDF2-87D2-3511-40A5-6F7E56783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16223-3AFD-2062-7A88-A646188C8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7F8C8-29FB-4D11-90A6-EC87E0575EC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87EF2-6194-7041-96EC-5CFB78A4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E089A-BFC7-A4C2-CC33-5A477BC3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CA6-0C1E-42CA-B1C0-709B2F3D8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59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A68E-ECB3-CEB5-CE11-2018EFDDA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47A73-C469-4D43-6E1A-B1911FDFD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FD8F2-7A3C-EC56-D562-525FC63A2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A3E7C-811D-8FF7-C0CB-BE117FC9E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7F8C8-29FB-4D11-90A6-EC87E0575EC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E258B-50CE-89B3-3E9D-4A24AFAE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A86DD-83A9-6041-75D3-6A09A17E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CA6-0C1E-42CA-B1C0-709B2F3D8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21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F7847-86F1-EAD3-239F-90ECD4167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E4C73-B2BA-264C-DF89-DC32D6208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65B7C-81E4-AC7F-B183-97FA2466A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7F8C8-29FB-4D11-90A6-EC87E0575EC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818FF-983B-2930-F6EA-B777DC5AB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9B30A-B62E-2B4F-3402-AC9D1C77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CA6-0C1E-42CA-B1C0-709B2F3D8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089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63AECA-EDC9-29C9-56D5-87A051BCA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B26BF-D657-392C-9C8C-94A721F90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CF48E-CB83-C1F2-09FF-656528B8A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7F8C8-29FB-4D11-90A6-EC87E0575EC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6E266-8B55-D695-5915-78D9F806C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462CE-94BB-9A3A-A909-28B5024D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CA6-0C1E-42CA-B1C0-709B2F3D8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437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20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E0CBF-771D-A22F-38FA-D8FA926C9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7B2CF-F15B-CCF8-3CD3-63B8939AD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EAABD-CCCC-BF8A-8378-FEB598794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F8C8-29FB-4D11-90A6-EC87E0575EC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A6891-E6A2-E6E4-4516-D7ACC3EA9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27A69-1F14-9F38-5FDD-CB9D28C4B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65CA6-0C1E-42CA-B1C0-709B2F3D8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59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DFD – 07.01 View Outstanding Invoices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77"/>
                </a:solidFill>
              </a:rPr>
              <a:t>Logical Data Flow Diagram – Showing DF-In Crosscuts (No DF-Out)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9496" y="1697851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72C4"/>
                </a:solidFill>
              </a:rPr>
              <a:t>DF-IN (Input Crosscuts)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9496" y="2017891"/>
            <a:ext cx="2377440" cy="685800"/>
          </a:xfrm>
          <a:prstGeom prst="rect">
            <a:avLst/>
          </a:prstGeom>
          <a:solidFill>
            <a:srgbClr val="DAE9F5"/>
          </a:solidFill>
          <a:ln w="12700">
            <a:solidFill>
              <a:srgbClr val="4472C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9496" y="2017891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06.01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Create New Invoice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" y="3160891"/>
            <a:ext cx="2377440" cy="777240"/>
          </a:xfrm>
          <a:prstGeom prst="rect">
            <a:avLst/>
          </a:prstGeom>
          <a:solidFill>
            <a:srgbClr val="DAE9F5"/>
          </a:solidFill>
          <a:ln w="12700">
            <a:solidFill>
              <a:srgbClr val="4472C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9496" y="3160891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01.03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Record Customer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Payment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16936" y="2356219"/>
            <a:ext cx="1371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35224" y="204532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Adds new invoice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records to system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16936" y="3544939"/>
            <a:ext cx="1371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935224" y="3179179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Updates invoice status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and outstanding balance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88536" y="2337931"/>
            <a:ext cx="2926080" cy="2194560"/>
          </a:xfrm>
          <a:prstGeom prst="rect">
            <a:avLst/>
          </a:prstGeom>
          <a:solidFill>
            <a:srgbClr val="C6E0C4"/>
          </a:solidFill>
          <a:ln w="12700">
            <a:solidFill>
              <a:srgbClr val="4E9A5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88536" y="2337931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07.01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View Outstanding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Invoices</a:t>
            </a:r>
            <a:endParaRPr lang="en-US" sz="14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1A1A2E"/>
                </a:solidFill>
              </a:rPr>
              <a:t> 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Retrieves invoice records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and applies filters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731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Logged in User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0016" y="1743571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Enters search criteria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(Customer, Status, Date Range, etc.)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51576" y="2173339"/>
            <a:ext cx="0" cy="164592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751576" y="4532491"/>
            <a:ext cx="0" cy="36576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294376" y="4898251"/>
            <a:ext cx="914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980176" y="4898251"/>
            <a:ext cx="228600" cy="228600"/>
          </a:xfrm>
          <a:prstGeom prst="rect">
            <a:avLst/>
          </a:prstGeom>
          <a:solidFill>
            <a:srgbClr val="F5F7F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385816" y="5035411"/>
            <a:ext cx="50292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385816" y="5145139"/>
            <a:ext cx="50292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385816" y="5254867"/>
            <a:ext cx="50292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85816" y="5364595"/>
            <a:ext cx="50292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385816" y="5474323"/>
            <a:ext cx="36576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379976" y="5675491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55"/>
                </a:solidFill>
              </a:rPr>
              <a:t>Displays Outstanding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3355"/>
                </a:solidFill>
              </a:rPr>
              <a:t>Invoices List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3355"/>
                </a:solidFill>
              </a:rPr>
              <a:t>(Invoice #, Date, Due Date,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3355"/>
                </a:solidFill>
              </a:rPr>
              <a:t>Status, Amount Due, etc.)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595360" y="86868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778240" y="1005840"/>
            <a:ext cx="274320" cy="182880"/>
          </a:xfrm>
          <a:prstGeom prst="rect">
            <a:avLst/>
          </a:prstGeom>
          <a:solidFill>
            <a:srgbClr val="C6E0C4"/>
          </a:solidFill>
          <a:ln w="12700">
            <a:solidFill>
              <a:srgbClr val="4E9A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125712" y="9875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Core Feature (Being Tested)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78240" y="1280160"/>
            <a:ext cx="274320" cy="182880"/>
          </a:xfrm>
          <a:prstGeom prst="rect">
            <a:avLst/>
          </a:prstGeom>
          <a:solidFill>
            <a:srgbClr val="DAE9F5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125712" y="12618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DF-In (Input from other stories)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778240" y="1554480"/>
            <a:ext cx="27432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125712" y="15361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DF-Out (Not applicable)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595360" y="2331720"/>
            <a:ext cx="3200400" cy="2286000"/>
          </a:xfrm>
          <a:prstGeom prst="rect">
            <a:avLst/>
          </a:prstGeom>
          <a:solidFill>
            <a:srgbClr val="EEF2FB"/>
          </a:solidFill>
          <a:ln w="12700">
            <a:solidFill>
              <a:srgbClr val="4472C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732520" y="2423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Notes: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732520" y="2724912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DF-In:</a:t>
            </a:r>
            <a:r>
              <a:rPr lang="en-US" sz="950" dirty="0">
                <a:solidFill>
                  <a:srgbClr val="1A1A2E"/>
                </a:solidFill>
              </a:rPr>
              <a:t> Other stories that provide data to this feature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DF-Out:</a:t>
            </a:r>
            <a:r>
              <a:rPr lang="en-US" sz="950" dirty="0">
                <a:solidFill>
                  <a:srgbClr val="1A1A2E"/>
                </a:solidFill>
              </a:rPr>
              <a:t> Not applicable (value = 0 in RCT)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Highlighted (green) feature is in scope for testing this semester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IDs and Titles are as per RCT</a:t>
            </a:r>
            <a:endParaRPr lang="en-US" sz="9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09BA3DF-CFC6-418E-A24A-805247B0A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909" y="964882"/>
            <a:ext cx="933333" cy="904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150</Words>
  <Application>Microsoft Office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Shlok shah</dc:creator>
  <cp:lastModifiedBy>Shlok shah</cp:lastModifiedBy>
  <cp:revision>1</cp:revision>
  <dcterms:created xsi:type="dcterms:W3CDTF">2026-04-22T22:54:11Z</dcterms:created>
  <dcterms:modified xsi:type="dcterms:W3CDTF">2026-04-22T22:56:33Z</dcterms:modified>
</cp:coreProperties>
</file>